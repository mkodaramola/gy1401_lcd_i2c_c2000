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237475dd064dd6" /><Relationship Type="http://schemas.openxmlformats.org/officeDocument/2006/relationships/extended-properties" Target="/docProps/app.xml" Id="R3842e54c2bbd4ee6" /><Relationship Type="http://schemas.openxmlformats.org/officeDocument/2006/relationships/officeDocument" Target="/ppt/presentation.xml" Id="R9a35894937dd44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1fd2b882f4497b"/>
  </p:sldMasterIdLst>
  <p:notesMasterIdLst>
    <p:notesMasterId xmlns:r="http://schemas.openxmlformats.org/officeDocument/2006/relationships" r:id="R4a13fe6a0c164afa"/>
  </p:notesMasterIdLst>
  <p:sldIdLst>
    <p:sldId xmlns:r="http://schemas.openxmlformats.org/officeDocument/2006/relationships" id="256" r:id="R88f8b670415a4f2f"/>
    <p:sldId xmlns:r="http://schemas.openxmlformats.org/officeDocument/2006/relationships" id="257" r:id="Rf427ee363473474c"/>
    <p:sldId xmlns:r="http://schemas.openxmlformats.org/officeDocument/2006/relationships" id="258" r:id="Re71f3a165cbc4df8"/>
    <p:sldId xmlns:r="http://schemas.openxmlformats.org/officeDocument/2006/relationships" id="259" r:id="R172c7aa52e1c4175"/>
    <p:sldId xmlns:r="http://schemas.openxmlformats.org/officeDocument/2006/relationships" id="260" r:id="R958205650982484b"/>
    <p:sldId xmlns:r="http://schemas.openxmlformats.org/officeDocument/2006/relationships" id="261" r:id="Rabf5d025ec2a4c6c"/>
    <p:sldId xmlns:r="http://schemas.openxmlformats.org/officeDocument/2006/relationships" id="262" r:id="R9f5c30d93ade46e8"/>
    <p:sldId xmlns:r="http://schemas.openxmlformats.org/officeDocument/2006/relationships" id="263" r:id="Ra365c9a5514e49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2e43957aa94c4b" /><Relationship Type="http://schemas.openxmlformats.org/officeDocument/2006/relationships/slideMaster" Target="/ppt/slideMasters/slideMaster1.xml" Id="Rfe1fd2b882f4497b" /><Relationship Type="http://schemas.openxmlformats.org/officeDocument/2006/relationships/notesMaster" Target="/ppt/notesMasters/notesMaster1.xml" Id="R4a13fe6a0c164afa" /><Relationship Type="http://schemas.openxmlformats.org/officeDocument/2006/relationships/presProps" Target="/ppt/presProps.xml" Id="R0b6b0c41b73448fc" /><Relationship Type="http://schemas.openxmlformats.org/officeDocument/2006/relationships/tableStyles" Target="/ppt/tableStyles.xml" Id="R005a05ac54f44e19" /><Relationship Type="http://schemas.openxmlformats.org/officeDocument/2006/relationships/slide" Target="/ppt/slides/slide1.xml" Id="R88f8b670415a4f2f" /><Relationship Type="http://schemas.openxmlformats.org/officeDocument/2006/relationships/slide" Target="/ppt/slides/slide2.xml" Id="Rf427ee363473474c" /><Relationship Type="http://schemas.openxmlformats.org/officeDocument/2006/relationships/slide" Target="/ppt/slides/slide3.xml" Id="Re71f3a165cbc4df8" /><Relationship Type="http://schemas.openxmlformats.org/officeDocument/2006/relationships/slide" Target="/ppt/slides/slide4.xml" Id="R172c7aa52e1c4175" /><Relationship Type="http://schemas.openxmlformats.org/officeDocument/2006/relationships/slide" Target="/ppt/slides/slide5.xml" Id="R958205650982484b" /><Relationship Type="http://schemas.openxmlformats.org/officeDocument/2006/relationships/slide" Target="/ppt/slides/slide6.xml" Id="Rabf5d025ec2a4c6c" /><Relationship Type="http://schemas.openxmlformats.org/officeDocument/2006/relationships/slide" Target="/ppt/slides/slide7.xml" Id="R9f5c30d93ade46e8" /><Relationship Type="http://schemas.openxmlformats.org/officeDocument/2006/relationships/slide" Target="/ppt/slides/slide8.xml" Id="Ra365c9a5514e49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072f87e66e42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0c30b285f744c8" /><Relationship Type="http://schemas.openxmlformats.org/officeDocument/2006/relationships/notesMaster" Target="/ppt/notesMasters/notesMaster1.xml" Id="R927db5ffa2104b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4a816817c84580" /><Relationship Type="http://schemas.openxmlformats.org/officeDocument/2006/relationships/notesMaster" Target="/ppt/notesMasters/notesMaster1.xml" Id="R36013b07e3a347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b56b0034984197" /><Relationship Type="http://schemas.openxmlformats.org/officeDocument/2006/relationships/notesMaster" Target="/ppt/notesMasters/notesMaster1.xml" Id="R5ac04ca15f9843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982ca332cb4f90" /><Relationship Type="http://schemas.openxmlformats.org/officeDocument/2006/relationships/notesMaster" Target="/ppt/notesMasters/notesMaster1.xml" Id="R66c7707aa78949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ca86ffb39e4585" /><Relationship Type="http://schemas.openxmlformats.org/officeDocument/2006/relationships/notesMaster" Target="/ppt/notesMasters/notesMaster1.xml" Id="Ra27dd2a6440749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b1b1b2a8f545ef" /><Relationship Type="http://schemas.openxmlformats.org/officeDocument/2006/relationships/notesMaster" Target="/ppt/notesMasters/notesMaster1.xml" Id="Rcaf657757e5b4f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266adfcea0434e" /><Relationship Type="http://schemas.openxmlformats.org/officeDocument/2006/relationships/notesMaster" Target="/ppt/notesMasters/notesMaster1.xml" Id="R71f825d8289d44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e048ff00ba47ff" /><Relationship Type="http://schemas.openxmlformats.org/officeDocument/2006/relationships/notesMaster" Target="/ppt/notesMasters/notesMaster1.xml" Id="R10cb35ed573b43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C:/Users/mkoda/workspace_ccstheia/LCD_I2C</a:t>
            </a:r>
          </a:p>
          <a:p xmlns:a="http://schemas.openxmlformats.org/drawingml/2006/main">
            <a:r>
              <a:t>C:/Users/mkoda/workspace_ccstheia/GY0801_LCD</a:t>
            </a:r>
          </a:p>
          <a:p xmlns:a="http://schemas.openxmlformats.org/drawingml/2006/main">
            <a:r>
              <a:t>C:/Users/mkoda/Documents/lcd materials</a:t>
            </a:r>
          </a:p>
          <a:p xmlns:a="http://schemas.openxmlformats.org/drawingml/2006/main">
            <a:r>
              <a:t>C:/Users/mkoda/Documents/Premauda/GY0801 LCD Materials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C:/Users/mkoda/workspace_ccstheia/LCD_I2C/hw/hw_i2c.cpp</a:t>
            </a:r>
          </a:p>
          <a:p xmlns:a="http://schemas.openxmlformats.org/drawingml/2006/main">
            <a:r>
              <a:t>C:/Users/mkoda/workspace_ccstheia/LCD_I2C/hw/meter_lcd.cpp</a:t>
            </a:r>
          </a:p>
          <a:p xmlns:a="http://schemas.openxmlformats.org/drawingml/2006/main">
            <a:r>
              <a:t>C:/Users/mkoda/Documents/lcd materials/CN91C4S48_i2c.pdf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C:/Users/mkoda/workspace_ccstheia/LCD_I2C/hw/meter_lcd.cpp</a:t>
            </a:r>
          </a:p>
          <a:p xmlns:a="http://schemas.openxmlformats.org/drawingml/2006/main">
            <a:r>
              <a:t>C:/Users/mkoda/Documents/lcd materials/lcd mspm0  code/util_ui_lcd_lu.h</a:t>
            </a:r>
          </a:p>
          <a:p xmlns:a="http://schemas.openxmlformats.org/drawingml/2006/main">
            <a:r>
              <a:t>C:/Users/mkoda/Documents/lcd materials/COM_SEG Mapping Table.PNG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C:/Users/mkoda/workspace_ccstheia/LCD_I2C/app/main.cpp</a:t>
            </a:r>
          </a:p>
          <a:p xmlns:a="http://schemas.openxmlformats.org/drawingml/2006/main">
            <a:r>
              <a:t>C:/Users/mkoda/workspace_ccstheia/LCD_I2C/hw/includes/meter_lcd.h</a:t>
            </a:r>
          </a:p>
          <a:p xmlns:a="http://schemas.openxmlformats.org/drawingml/2006/main">
            <a:r>
              <a:t>C:/Users/mkoda/Documents/lcd materials/Displayable Characters.txt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C:/Users/mkoda/workspace_ccstheia/GY0801_LCD/app/main.cpp</a:t>
            </a:r>
          </a:p>
          <a:p xmlns:a="http://schemas.openxmlformats.org/drawingml/2006/main">
            <a:r>
              <a:t>C:/Users/mkoda/workspace_ccstheia/GY0801_LCD/hw/gy0801_lcd.cpp</a:t>
            </a:r>
          </a:p>
          <a:p xmlns:a="http://schemas.openxmlformats.org/drawingml/2006/main">
            <a:r>
              <a:t>C:/Users/mkoda/Documents/Premauda/GY0801 LCD Materials/ht1621b.PDF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C:/Users/mkoda/workspace_ccstheia/GY0801_LCD/hw/gy0801_lcd.cpp</a:t>
            </a:r>
          </a:p>
          <a:p xmlns:a="http://schemas.openxmlformats.org/drawingml/2006/main">
            <a:r>
              <a:t>C:/Users/mkoda/workspace_ccstheia/GY0801_LCD/hw/includes/gy0801_lcd.h</a:t>
            </a:r>
          </a:p>
          <a:p xmlns:a="http://schemas.openxmlformats.org/drawingml/2006/main">
            <a:r>
              <a:t>C:/Users/mkoda/workspace_ccstheia/GY0801_LCD/tmp/pdf_pages/gy0801_truth_table_current.png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C:/Users/mkoda/workspace_ccstheia/GY0801_LCD/app/main.cpp</a:t>
            </a:r>
          </a:p>
          <a:p xmlns:a="http://schemas.openxmlformats.org/drawingml/2006/main">
            <a:r>
              <a:t>User-provided future plan: integrate GY0801 in pro_ci to display different states.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C:/Users/mkoda/workspace_ccstheia/GY0801_LCD</a:t>
            </a:r>
          </a:p>
          <a:p xmlns:a="http://schemas.openxmlformats.org/drawingml/2006/main">
            <a:r>
              <a:t>C:/Users/mkoda/workspace_ccstheia/LCD_I2C</a:t>
            </a:r>
          </a:p>
          <a:p xmlns:a="http://schemas.openxmlformats.org/drawingml/2006/main">
            <a:r>
              <a:t>User-provided future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8cfccba4c64b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9b565cff254da9" /><Relationship Type="http://schemas.openxmlformats.org/officeDocument/2006/relationships/slideLayout" Target="/ppt/slideLayouts/slideLayout1.xml" Id="R13616ec012a24a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616ec012a24a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33bed5e2843cc" /><Relationship Type="http://schemas.openxmlformats.org/officeDocument/2006/relationships/image" Target="/ppt/media/image.png" Id="Rdf42f5eed6a04bc5" /><Relationship Type="http://schemas.openxmlformats.org/officeDocument/2006/relationships/image" Target="/ppt/media/image2.png" Id="R27453874712d4780" /><Relationship Type="http://schemas.openxmlformats.org/officeDocument/2006/relationships/notesSlide" Target="/ppt/notesSlides/notesSlide1.xml" Id="Rb3433e58e0db42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27baf1ebc434a" /><Relationship Type="http://schemas.openxmlformats.org/officeDocument/2006/relationships/notesSlide" Target="/ppt/notesSlides/notesSlide2.xml" Id="R0dde4e034e2846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373d67d1843f7" /><Relationship Type="http://schemas.openxmlformats.org/officeDocument/2006/relationships/image" Target="/ppt/media/image3.png" Id="Rd1d87d506bb6457b" /><Relationship Type="http://schemas.openxmlformats.org/officeDocument/2006/relationships/notesSlide" Target="/ppt/notesSlides/notesSlide3.xml" Id="Reff1a115a63a40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36c00b9954ef3" /><Relationship Type="http://schemas.openxmlformats.org/officeDocument/2006/relationships/notesSlide" Target="/ppt/notesSlides/notesSlide4.xml" Id="Rdfa870386c264d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4c2277baa4b7b" /><Relationship Type="http://schemas.openxmlformats.org/officeDocument/2006/relationships/image" Target="/ppt/media/image4.png" Id="R554e7701fd7142b5" /><Relationship Type="http://schemas.openxmlformats.org/officeDocument/2006/relationships/notesSlide" Target="/ppt/notesSlides/notesSlide5.xml" Id="R29f3c4f4244e4c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28dc939614ecb" /><Relationship Type="http://schemas.openxmlformats.org/officeDocument/2006/relationships/image" Target="/ppt/media/image5.png" Id="Re60ffc41f41f487e" /><Relationship Type="http://schemas.openxmlformats.org/officeDocument/2006/relationships/notesSlide" Target="/ppt/notesSlides/notesSlide6.xml" Id="R1d7f59f74e934c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492418a5f41af" /><Relationship Type="http://schemas.openxmlformats.org/officeDocument/2006/relationships/notesSlide" Target="/ppt/notesSlides/notesSlide7.xml" Id="R6e77d70445854b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76012a28f4f7b" /><Relationship Type="http://schemas.openxmlformats.org/officeDocument/2006/relationships/notesSlide" Target="/ppt/notesSlides/notesSlide8.xml" Id="R2218ea49a0ff4b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FE05C-CF6D-43B0-80EF-8B3CA259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B563E-BB4E-4659-B7F9-2F0D5A2A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E7662-1457-4A7D-8260-2C6322A9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DDCFF"/>
                </a:solidFill>
              </a:defRPr>
            </a:pPr>
            <a:r>
              <a:rPr sz="1350" b="1">
                <a:solidFill>
                  <a:srgbClr val="9DDCFF"/>
                </a:solidFill>
              </a:rPr>
              <a:t>C2000 LCD UI BRING-UP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57C9F-3F98-4767-BF47-D01553B8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Segmented LCD drivers for energy meter displays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BACAB-00BD-4F8E-BD14-DCA72DC3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9EAFB"/>
                </a:solidFill>
              </a:defRPr>
            </a:pPr>
            <a:r>
              <a:rPr sz="2100" b="0">
                <a:solidFill>
                  <a:srgbClr val="D9EAFB"/>
                </a:solidFill>
              </a:rPr>
              <a:t>GY1401 over I2C + GY0801 over HT1621-style GPIO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2f5eed6a04bc5"/>
          <a:srcRect xmlns:a="http://schemas.openxmlformats.org/drawingml/2006/main" l="0" t="814" r="0" b="8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58100" y="666750"/>
            <a:ext cx="3810000" cy="27241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53874712d4780"/>
          <a:srcRect xmlns:a="http://schemas.openxmlformats.org/drawingml/2006/main" l="0" t="9147" r="0" b="91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58100" y="3714750"/>
            <a:ext cx="3810000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4AAEA-7015-483A-99A7-56184D5F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Future C2000-based energy meter application</a:t>
            </a:r>
          </a:p>
        </p:txBody>
      </p:sp>
    </p:spTree>
    <p:extLst>
      <p:ext uri="{BB962C8B-B14F-4D97-AF65-F5344CB8AC3E}">
        <p14:creationId xmlns:p14="http://schemas.microsoft.com/office/powerpoint/2010/main" val="340997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B9584-9508-4B1A-AAF3-CDB49172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58B8D-8F54-417D-9430-3459FBAF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99304-C17E-415D-A566-741E097D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D7F2"/>
                </a:solidFill>
              </a:defRPr>
            </a:pPr>
            <a:r>
              <a:rPr sz="1200" b="1">
                <a:solidFill>
                  <a:srgbClr val="BFD7F2"/>
                </a:solidFill>
              </a:rPr>
              <a:t>GY1401 CONFIGURATION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DA789-4F88-4504-A73F-608ADD8A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</a:defRPr>
            </a:pPr>
            <a:r>
              <a:rPr sz="3450" b="1">
                <a:solidFill>
                  <a:srgbClr val="101418"/>
                </a:solidFill>
              </a:rPr>
              <a:t>I2C brings the CN91C4S48 glass to life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7D30F-2C58-4DE9-AADC-66486DA5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43300"/>
            <a:ext cx="7048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D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3EC29-D788-4742-81B2-6F1286EA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43300"/>
            <a:ext cx="7048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D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31C20-5674-4A23-AFAA-40A98E40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43300"/>
            <a:ext cx="7048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D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E30D3-452A-4DE3-B119-84C78E73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C2000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I2CA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30DCD-DACB-4676-9940-B6A97840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2895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0x3E</a:t>
            </a:r>
          </a:p>
          <a:p xmlns:a="http://schemas.openxmlformats.org/drawingml/2006/main">
            <a:pPr algn="ctr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LCD address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45D58-51B7-4874-85BA-5E5B5A31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2895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CN91C4S48</a:t>
            </a:r>
          </a:p>
          <a:p xmlns:a="http://schemas.openxmlformats.org/drawingml/2006/main">
            <a:pPr algn="ctr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setup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1A515-32B1-4239-B934-745BA0F9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DDRAM</a:t>
            </a:r>
          </a:p>
          <a:p xmlns:a="http://schemas.openxmlformats.org/drawingml/2006/main">
            <a:pPr algn="ctr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writes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605E0-DAA3-4BD6-A990-2A6E8652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B33"/>
                </a:solidFill>
              </a:defRPr>
            </a:pPr>
            <a:r>
              <a:rPr sz="2100" b="1">
                <a:solidFill>
                  <a:srgbClr val="071B33"/>
                </a:solidFill>
              </a:rPr>
              <a:t>Startup sequence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669DA-7A63-48F1-A9F0-59E50FA6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418"/>
                </a:solidFill>
              </a:defRPr>
            </a:pPr>
            <a:r>
              <a:rPr sz="2025" b="0">
                <a:solidFill>
                  <a:srgbClr val="101418"/>
                </a:solidFill>
              </a:rPr>
              <a:t>ICSET -&gt; DISCTL -&gt; EVRSET -&gt; BLKCTL -&gt; APCTL -&gt; MODSET -&gt; Clear 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8B1BA-FB94-4A4B-AF99-956FEB07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00400"/>
            <a:ext cx="13144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8A05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tested path</a:t>
            </a:r>
          </a:p>
        </p:txBody>
      </p:sp>
    </p:spTree>
    <p:extLst>
      <p:ext uri="{BB962C8B-B14F-4D97-AF65-F5344CB8AC3E}">
        <p14:creationId xmlns:p14="http://schemas.microsoft.com/office/powerpoint/2010/main" val="14095542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F9281-A95A-4CD0-83A8-C67DBFE5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E1F90-CA62-4443-9779-4AD6872A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9EF23-CC60-4C11-9B48-C933FB48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D7F2"/>
                </a:solidFill>
              </a:defRPr>
            </a:pPr>
            <a:r>
              <a:rPr sz="1200" b="1">
                <a:solidFill>
                  <a:srgbClr val="BFD7F2"/>
                </a:solidFill>
              </a:rPr>
              <a:t>GY1401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2AADB-953D-47FD-BE0D-24C908BC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</a:defRPr>
            </a:pPr>
            <a:r>
              <a:rPr sz="3450" b="1">
                <a:solidFill>
                  <a:srgbClr val="101418"/>
                </a:solidFill>
              </a:rPr>
              <a:t>Digits are packed bytes, not ASCII characters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87d506bb6457b"/>
          <a:srcRect xmlns:a="http://schemas.openxmlformats.org/drawingml/2006/main" l="4381" t="0" r="43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2000250"/>
            <a:ext cx="4572000" cy="3143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697F7-C3FC-4FC6-B9BD-FB2D3E9C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476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E8F7FF"/>
          </a:solidFill>
          <a:ln xmlns:a="http://schemas.openxmlformats.org/drawingml/2006/main" w="11430">
            <a:solidFill>
              <a:srgbClr val="B5E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0803F-2280-47ED-9A81-309798C7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476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E9FBF8"/>
          </a:solidFill>
          <a:ln xmlns:a="http://schemas.openxmlformats.org/drawingml/2006/main" w="11430">
            <a:solidFill>
              <a:srgbClr val="B5EF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EBCE2-2CE4-4906-9C89-61F83996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88E5"/>
                </a:solidFill>
              </a:defRPr>
            </a:pPr>
            <a:r>
              <a:rPr sz="2850" b="1">
                <a:solidFill>
                  <a:srgbClr val="1E88E5"/>
                </a:solidFill>
              </a:rPr>
              <a:t>LUT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EE2A0-D576-4CD4-B5EA-2B87488B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171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8"/>
                </a:solidFill>
              </a:defRPr>
            </a:pPr>
            <a:r>
              <a:rPr sz="2250" b="0">
                <a:solidFill>
                  <a:srgbClr val="101418"/>
                </a:solidFill>
              </a:rPr>
              <a:t>0 = FA</a:t>
            </a:r>
          </a:p>
          <a:p xmlns:a="http://schemas.openxmlformats.org/drawingml/2006/main">
            <a:pPr algn="l">
              <a:defRPr sz="2250" b="0">
                <a:solidFill>
                  <a:srgbClr val="101418"/>
                </a:solidFill>
              </a:defRPr>
            </a:pPr>
            <a:r>
              <a:rPr sz="2250" b="0">
                <a:solidFill>
                  <a:srgbClr val="101418"/>
                </a:solidFill>
              </a:rPr>
              <a:t>1 = 0A</a:t>
            </a:r>
          </a:p>
          <a:p xmlns:a="http://schemas.openxmlformats.org/drawingml/2006/main">
            <a:pPr algn="l">
              <a:defRPr sz="2250" b="0">
                <a:solidFill>
                  <a:srgbClr val="101418"/>
                </a:solidFill>
              </a:defRPr>
            </a:pPr>
            <a:r>
              <a:rPr sz="2250" b="0">
                <a:solidFill>
                  <a:srgbClr val="101418"/>
                </a:solidFill>
              </a:rPr>
              <a:t>8 = FE</a:t>
            </a:r>
          </a:p>
          <a:p xmlns:a="http://schemas.openxmlformats.org/drawingml/2006/main">
            <a:pPr algn="l">
              <a:defRPr sz="2250" b="0">
                <a:solidFill>
                  <a:srgbClr val="101418"/>
                </a:solidFill>
              </a:defRPr>
            </a:pPr>
            <a:r>
              <a:rPr sz="2250" b="0">
                <a:solidFill>
                  <a:srgbClr val="101418"/>
                </a:solidFill>
              </a:rPr>
              <a:t>9 = 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2BD63-91E3-40F5-915A-F7E9DFD8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24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C3B2"/>
                </a:solidFill>
              </a:defRPr>
            </a:pPr>
            <a:r>
              <a:rPr sz="2850" b="1">
                <a:solidFill>
                  <a:srgbClr val="17C3B2"/>
                </a:solidFill>
              </a:rPr>
              <a:t>Window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76853-CCBD-4426-9C08-A87D4EF0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1470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8"/>
                </a:solidFill>
              </a:defRPr>
            </a:pPr>
            <a:r>
              <a:rPr sz="2250" b="0">
                <a:solidFill>
                  <a:srgbClr val="101418"/>
                </a:solidFill>
              </a:rPr>
              <a:t>DDRAM 0x18</a:t>
            </a:r>
          </a:p>
          <a:p xmlns:a="http://schemas.openxmlformats.org/drawingml/2006/main">
            <a:pPr algn="l">
              <a:defRPr sz="2250" b="0">
                <a:solidFill>
                  <a:srgbClr val="101418"/>
                </a:solidFill>
              </a:defRPr>
            </a:pPr>
            <a:r>
              <a:rPr sz="2250" b="0">
                <a:solidFill>
                  <a:srgbClr val="101418"/>
                </a:solidFill>
              </a:rPr>
              <a:t>11 bytes</a:t>
            </a:r>
          </a:p>
          <a:p xmlns:a="http://schemas.openxmlformats.org/drawingml/2006/main">
            <a:pPr algn="l">
              <a:defRPr sz="2250" b="0">
                <a:solidFill>
                  <a:srgbClr val="101418"/>
                </a:solidFill>
              </a:defRPr>
            </a:pPr>
            <a:r>
              <a:rPr sz="2250" b="0">
                <a:solidFill>
                  <a:srgbClr val="101418"/>
                </a:solidFill>
              </a:rPr>
              <a:t>right aligned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B005A-F371-4127-9851-D3B25C96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B33"/>
                </a:solidFill>
              </a:defRPr>
            </a:pPr>
            <a:r>
              <a:rPr sz="2250" b="1">
                <a:solidFill>
                  <a:srgbClr val="071B33"/>
                </a:solidFill>
              </a:rPr>
              <a:t>Fixed units and icons use the etched COM/SEG map: kWh, Ah, arrows, warning, battery and signal indicators.</a:t>
            </a:r>
          </a:p>
        </p:txBody>
      </p:sp>
    </p:spTree>
    <p:extLst>
      <p:ext uri="{BB962C8B-B14F-4D97-AF65-F5344CB8AC3E}">
        <p14:creationId xmlns:p14="http://schemas.microsoft.com/office/powerpoint/2010/main" val="19228583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FF920-38AD-445A-86B4-0B666E18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1F311-33AB-4243-80FC-BFBC26DB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889EB-CB1F-436C-B1E2-991BD098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D7F2"/>
                </a:solidFill>
              </a:defRPr>
            </a:pPr>
            <a:r>
              <a:rPr sz="1200" b="1">
                <a:solidFill>
                  <a:srgbClr val="BFD7F2"/>
                </a:solidFill>
              </a:rPr>
              <a:t>GY1401 ENERGY METER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CF5EF-B31F-4946-AF51-AFF69390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</a:defRPr>
            </a:pPr>
            <a:r>
              <a:rPr sz="3450" b="1">
                <a:solidFill>
                  <a:srgbClr val="101418"/>
                </a:solidFill>
              </a:rPr>
              <a:t>The LCD layer should stay separate from meter state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30C52-E28C-461C-AAFF-736692AB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43300"/>
            <a:ext cx="609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08913-1BE1-4703-8F74-799714B0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43300"/>
            <a:ext cx="609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55004-45CE-4991-8E35-77CA979F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609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33383-29B0-44BF-A29B-1BEE4A90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E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418"/>
                </a:solidFill>
              </a:defRPr>
            </a:pPr>
            <a:r>
              <a:rPr sz="1875" b="1">
                <a:solidFill>
                  <a:srgbClr val="101418"/>
                </a:solidFill>
              </a:rPr>
              <a:t>Measurements</a:t>
            </a:r>
          </a:p>
          <a:p xmlns:a="http://schemas.openxmlformats.org/drawingml/2006/main">
            <a:pPr algn="ctr">
              <a:defRPr sz="1875" b="1">
                <a:solidFill>
                  <a:srgbClr val="101418"/>
                </a:solidFill>
              </a:defRPr>
            </a:pPr>
            <a:r>
              <a:rPr sz="1875" b="1">
                <a:solidFill>
                  <a:srgbClr val="101418"/>
                </a:solidFill>
              </a:rPr>
              <a:t>V, A, kW, kWh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0D05A-6F84-43F5-819C-297622A2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52750"/>
            <a:ext cx="1809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E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418"/>
                </a:solidFill>
              </a:defRPr>
            </a:pPr>
            <a:r>
              <a:rPr sz="1875" b="1">
                <a:solidFill>
                  <a:srgbClr val="101418"/>
                </a:solidFill>
              </a:rPr>
              <a:t>Formatter</a:t>
            </a:r>
          </a:p>
          <a:p xmlns:a="http://schemas.openxmlformats.org/drawingml/2006/main">
            <a:pPr algn="ctr">
              <a:defRPr sz="1875" b="1">
                <a:solidFill>
                  <a:srgbClr val="101418"/>
                </a:solidFill>
              </a:defRPr>
            </a:pPr>
            <a:r>
              <a:rPr sz="1875" b="1">
                <a:solidFill>
                  <a:srgbClr val="101418"/>
                </a:solidFill>
              </a:rPr>
              <a:t>number + unit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B8BDD-39C1-4958-84E3-33030AD7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1809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E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418"/>
                </a:solidFill>
              </a:defRPr>
            </a:pPr>
            <a:r>
              <a:rPr sz="1875" b="1">
                <a:solidFill>
                  <a:srgbClr val="101418"/>
                </a:solidFill>
              </a:rPr>
              <a:t>LCD Driver</a:t>
            </a:r>
          </a:p>
          <a:p xmlns:a="http://schemas.openxmlformats.org/drawingml/2006/main">
            <a:pPr algn="ctr">
              <a:defRPr sz="1875" b="1">
                <a:solidFill>
                  <a:srgbClr val="101418"/>
                </a:solidFill>
              </a:defRPr>
            </a:pPr>
            <a:r>
              <a:rPr sz="1875" b="1">
                <a:solidFill>
                  <a:srgbClr val="101418"/>
                </a:solidFill>
              </a:rPr>
              <a:t>bytes + icons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38489-B4BD-4267-B01B-3025B159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52750"/>
            <a:ext cx="1809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GY1401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Glass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BE35E-6096-4D85-8F51-C17A033E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33"/>
                </a:solidFill>
              </a:defRPr>
            </a:pPr>
            <a:r>
              <a:rPr sz="2550" b="1">
                <a:solidFill>
                  <a:srgbClr val="071B33"/>
                </a:solidFill>
              </a:rPr>
              <a:t>This keeps hardware mapping changes out of application logic.</a:t>
            </a:r>
          </a:p>
        </p:txBody>
      </p:sp>
    </p:spTree>
    <p:extLst>
      <p:ext uri="{BB962C8B-B14F-4D97-AF65-F5344CB8AC3E}">
        <p14:creationId xmlns:p14="http://schemas.microsoft.com/office/powerpoint/2010/main" val="18039028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AA7FF-F287-4DFA-80AD-C0B70F36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DDCFF"/>
                </a:solidFill>
              </a:defRPr>
            </a:pPr>
            <a:r>
              <a:rPr sz="1350" b="1">
                <a:solidFill>
                  <a:srgbClr val="9DDCFF"/>
                </a:solidFill>
              </a:rPr>
              <a:t>GY0801 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B74A9-B091-4520-9246-A8C110A2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GY0801 uses GPIO timing for an HT1621-compatible controller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e7701fd7142b5"/>
          <a:srcRect xmlns:a="http://schemas.openxmlformats.org/drawingml/2006/main" l="763" t="0" r="7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3300" y="685800"/>
            <a:ext cx="4000500" cy="2952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3EEB2-2CDD-443F-851D-57E238DF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190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E1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F2048-9E4F-44BE-B88E-0EB3B83F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88E5"/>
                </a:solidFill>
              </a:defRPr>
            </a:pPr>
            <a:r>
              <a:rPr sz="3000" b="1">
                <a:solidFill>
                  <a:srgbClr val="1E88E5"/>
                </a:solidFill>
              </a:rPr>
              <a:t>CS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61DC2-4975-4333-A9A8-08CBA56D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</a:defRPr>
            </a:pPr>
            <a:r>
              <a:rPr sz="1575" b="0">
                <a:solidFill>
                  <a:srgbClr val="52606D"/>
                </a:solidFill>
              </a:rPr>
              <a:t>chip select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9AA64-2A3B-45F2-9A5E-8140C9EE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2190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E1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64335-F265-4FBC-85C4-AD46FBA6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C3B2"/>
                </a:solidFill>
              </a:defRPr>
            </a:pPr>
            <a:r>
              <a:rPr sz="3000" b="1">
                <a:solidFill>
                  <a:srgbClr val="17C3B2"/>
                </a:solidFill>
              </a:rPr>
              <a:t>WR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3FE0F-EFA1-4B92-B146-D17DAB66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481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</a:defRPr>
            </a:pPr>
            <a:r>
              <a:rPr sz="1575" b="0">
                <a:solidFill>
                  <a:srgbClr val="52606D"/>
                </a:solidFill>
              </a:rPr>
              <a:t>serial clock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8EBD3-C6C3-4DDC-A38A-3BCC0081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43250"/>
            <a:ext cx="2190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E1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FE69C-34AE-49F2-A8FD-E0D8CDBC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528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B020"/>
                </a:solidFill>
              </a:defRPr>
            </a:pPr>
            <a:r>
              <a:rPr sz="3000" b="1">
                <a:solidFill>
                  <a:srgbClr val="FFB020"/>
                </a:solidFill>
              </a:rPr>
              <a:t>DATA 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EF5DD-C472-4302-B20E-85D9D025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481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</a:defRPr>
            </a:pPr>
            <a:r>
              <a:rPr sz="1575" b="0">
                <a:solidFill>
                  <a:srgbClr val="52606D"/>
                </a:solidFill>
              </a:rPr>
              <a:t>write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24983-8737-41ED-A148-8623D33F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EAFB"/>
                </a:solidFill>
              </a:defRPr>
            </a:pPr>
            <a:r>
              <a:rPr sz="2400" b="1">
                <a:solidFill>
                  <a:srgbClr val="D9EAFB"/>
                </a:solidFill>
              </a:rPr>
              <a:t>Startup enables SYS, RC oscillator, 1/3 bias 4-COM mode, clears RAM, then turns LCD on.</a:t>
            </a:r>
          </a:p>
        </p:txBody>
      </p:sp>
    </p:spTree>
    <p:extLst>
      <p:ext uri="{BB962C8B-B14F-4D97-AF65-F5344CB8AC3E}">
        <p14:creationId xmlns:p14="http://schemas.microsoft.com/office/powerpoint/2010/main" val="4973790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5E856-44F0-4602-8E36-DA53C18B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03477-1B81-4A49-BA46-ED749BCD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942CD-1DB4-45DB-AF78-E20AD203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D7F2"/>
                </a:solidFill>
              </a:defRPr>
            </a:pPr>
            <a:r>
              <a:rPr sz="1200" b="1">
                <a:solidFill>
                  <a:srgbClr val="BFD7F2"/>
                </a:solidFill>
              </a:rPr>
              <a:t>GY0801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7B93F-AEE4-455D-A75E-A208D653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</a:defRPr>
            </a:pPr>
            <a:r>
              <a:rPr sz="3450" b="1">
                <a:solidFill>
                  <a:srgbClr val="101418"/>
                </a:solidFill>
              </a:rPr>
              <a:t>A shadow RAM makes icons and numbers composable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ffc41f41f487e"/>
          <a:srcRect xmlns:a="http://schemas.openxmlformats.org/drawingml/2006/main" l="0" t="16421" r="0" b="164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1924050"/>
            <a:ext cx="4095750" cy="3390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EB5F5-C2A7-4546-ACA9-8337E882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BFE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418"/>
                </a:solidFill>
              </a:defRPr>
            </a:pPr>
            <a:r>
              <a:rPr sz="2025" b="1">
                <a:solidFill>
                  <a:srgbClr val="101418"/>
                </a:solidFill>
              </a:rPr>
              <a:t>32-address</a:t>
            </a:r>
          </a:p>
          <a:p xmlns:a="http://schemas.openxmlformats.org/drawingml/2006/main">
            <a:pPr algn="ctr">
              <a:defRPr sz="2025" b="1">
                <a:solidFill>
                  <a:srgbClr val="101418"/>
                </a:solidFill>
              </a:defRPr>
            </a:pPr>
            <a:r>
              <a:rPr sz="2025" b="1">
                <a:solidFill>
                  <a:srgbClr val="101418"/>
                </a:solidFill>
              </a:rPr>
              <a:t>shadow 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84AC5-791E-4B33-9244-55792298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8F7FF"/>
          </a:solidFill>
          <a:ln xmlns:a="http://schemas.openxmlformats.org/drawingml/2006/main" w="11430">
            <a:solidFill>
              <a:srgbClr val="B5E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418"/>
                </a:solidFill>
              </a:defRPr>
            </a:pPr>
            <a:r>
              <a:rPr sz="2025" b="1">
                <a:solidFill>
                  <a:srgbClr val="101418"/>
                </a:solidFill>
              </a:rPr>
              <a:t>writeText()</a:t>
            </a:r>
          </a:p>
          <a:p xmlns:a="http://schemas.openxmlformats.org/drawingml/2006/main">
            <a:pPr algn="ctr">
              <a:defRPr sz="2025" b="1">
                <a:solidFill>
                  <a:srgbClr val="101418"/>
                </a:solidFill>
              </a:defRPr>
            </a:pPr>
            <a:r>
              <a:rPr sz="2025" b="1">
                <a:solidFill>
                  <a:srgbClr val="101418"/>
                </a:solidFill>
              </a:rPr>
              <a:t>writeNumber()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9DD60-D364-422B-804A-B43DF9F5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1430">
            <a:solidFill>
              <a:srgbClr val="F8D8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418"/>
                </a:solidFill>
              </a:defRPr>
            </a:pPr>
            <a:r>
              <a:rPr sz="2025" b="1">
                <a:solidFill>
                  <a:srgbClr val="101418"/>
                </a:solidFill>
              </a:rPr>
              <a:t>setIcon()</a:t>
            </a:r>
          </a:p>
          <a:p xmlns:a="http://schemas.openxmlformats.org/drawingml/2006/main">
            <a:pPr algn="ctr">
              <a:defRPr sz="2025" b="1">
                <a:solidFill>
                  <a:srgbClr val="101418"/>
                </a:solidFill>
              </a:defRPr>
            </a:pPr>
            <a:r>
              <a:rPr sz="2025" b="1">
                <a:solidFill>
                  <a:srgbClr val="101418"/>
                </a:solidFill>
              </a:rPr>
              <a:t>setSymbol()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E457F-3A9E-48F3-BA21-6F739D09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ECFF"/>
          </a:solidFill>
          <a:ln xmlns:a="http://schemas.openxmlformats.org/drawingml/2006/main" w="11430">
            <a:solidFill>
              <a:srgbClr val="D8C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418"/>
                </a:solidFill>
              </a:defRPr>
            </a:pPr>
            <a:r>
              <a:rPr sz="2025" b="1">
                <a:solidFill>
                  <a:srgbClr val="101418"/>
                </a:solidFill>
              </a:rPr>
              <a:t>flush()</a:t>
            </a:r>
          </a:p>
          <a:p xmlns:a="http://schemas.openxmlformats.org/drawingml/2006/main">
            <a:pPr algn="ctr">
              <a:defRPr sz="2025" b="1">
                <a:solidFill>
                  <a:srgbClr val="101418"/>
                </a:solidFill>
              </a:defRPr>
            </a:pPr>
            <a:r>
              <a:rPr sz="2025" b="1">
                <a:solidFill>
                  <a:srgbClr val="101418"/>
                </a:solidFill>
              </a:rPr>
              <a:t>burst write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4A92C-4D72-46D8-A064-6303F135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B33"/>
                </a:solidFill>
              </a:defRPr>
            </a:pPr>
            <a:r>
              <a:rPr sz="2250" b="1">
                <a:solidFill>
                  <a:srgbClr val="071B33"/>
                </a:solidFill>
              </a:rPr>
              <a:t>Digits, decimal points and named icons update the same shadow buffer before a single controller refresh.</a:t>
            </a:r>
          </a:p>
        </p:txBody>
      </p:sp>
    </p:spTree>
    <p:extLst>
      <p:ext uri="{BB962C8B-B14F-4D97-AF65-F5344CB8AC3E}">
        <p14:creationId xmlns:p14="http://schemas.microsoft.com/office/powerpoint/2010/main" val="1035637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F737C-7F47-43DC-8DB8-80B64C65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B716B-8ACC-4BC5-8AB8-8DF29E44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C7836-6020-40F2-8FCD-1073928A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D7F2"/>
                </a:solidFill>
              </a:defRPr>
            </a:pPr>
            <a:r>
              <a:rPr sz="1200" b="1">
                <a:solidFill>
                  <a:srgbClr val="BFD7F2"/>
                </a:solidFill>
              </a:rPr>
              <a:t>PRO CI DISPLAY STATES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D699D-D901-4E98-A196-02695F3A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</a:defRPr>
            </a:pPr>
            <a:r>
              <a:rPr sz="3450" b="1">
                <a:solidFill>
                  <a:srgbClr val="101418"/>
                </a:solidFill>
              </a:rPr>
              <a:t>GY0801 can become the visible state machine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5FF4F-4984-4B37-9978-7FD16D12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762125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EE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IDLE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D9F4A-5306-4336-B59F-D024C1FD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38400"/>
            <a:ext cx="1762125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FF8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CHARGING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91B9F-09D1-4C31-B0F9-9150FBC2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38400"/>
            <a:ext cx="1762125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DISCHARGING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B5C47-626E-4475-A2B2-F571C0C0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38400"/>
            <a:ext cx="1762125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E1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FAULT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C6346-BBFF-4724-BD5A-08CDD0F8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38400"/>
            <a:ext cx="1762125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E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LOW BATTERY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2A6F1-C16E-4B22-81FC-CEB36596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B33"/>
                </a:solidFill>
              </a:defRPr>
            </a:pPr>
            <a:r>
              <a:rPr sz="2325" b="1">
                <a:solidFill>
                  <a:srgbClr val="071B33"/>
                </a:solidFill>
              </a:rPr>
              <a:t>Each state maps to: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67415-9D9F-45EF-A280-9BAEE299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01418"/>
                </a:solidFill>
              </a:defRPr>
            </a:pPr>
            <a:r>
              <a:rPr sz="2325" b="0">
                <a:solidFill>
                  <a:srgbClr val="101418"/>
                </a:solidFill>
              </a:rPr>
              <a:t>numeric regions  |  flow arrows  |  battery gauge  |  warning / overload icons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3E6EA-E28A-413A-A426-77B423AF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B33"/>
                </a:solidFill>
              </a:defRPr>
            </a:pPr>
            <a:r>
              <a:rPr sz="2250" b="1">
                <a:solidFill>
                  <a:srgbClr val="071B33"/>
                </a:solidFill>
              </a:rPr>
              <a:t>Integration target: a small display adapter that listens to PRO CI state changes and writes only the LCD symbols that changed.</a:t>
            </a:r>
          </a:p>
        </p:txBody>
      </p:sp>
    </p:spTree>
    <p:extLst>
      <p:ext uri="{BB962C8B-B14F-4D97-AF65-F5344CB8AC3E}">
        <p14:creationId xmlns:p14="http://schemas.microsoft.com/office/powerpoint/2010/main" val="5063073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EB988-85AE-4E81-B961-A3C7A469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DDCFF"/>
                </a:solidFill>
              </a:defRPr>
            </a:pPr>
            <a:r>
              <a:rPr sz="1350" b="1">
                <a:solidFill>
                  <a:srgbClr val="9DDCFF"/>
                </a:solidFill>
              </a:rPr>
              <a:t>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F1E35-5A48-42EE-B1DF-457E08D0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00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Move from LCD bring-up to production display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1833D-50E8-4914-B600-30A966F0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33800"/>
            <a:ext cx="571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56C76-9F70-4405-8248-8BCE47AA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33800"/>
            <a:ext cx="571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29461-53F9-4737-A501-69AA047E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2286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8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418"/>
                </a:solidFill>
              </a:defRPr>
            </a:pPr>
            <a:r>
              <a:rPr sz="2025" b="1">
                <a:solidFill>
                  <a:srgbClr val="101418"/>
                </a:solidFill>
              </a:rPr>
              <a:t>1</a:t>
            </a:r>
          </a:p>
          <a:p xmlns:a="http://schemas.openxmlformats.org/drawingml/2006/main">
            <a:pPr algn="ctr">
              <a:defRPr sz="2025" b="1">
                <a:solidFill>
                  <a:srgbClr val="101418"/>
                </a:solidFill>
              </a:defRPr>
            </a:pPr>
            <a:r>
              <a:rPr sz="2025" b="1">
                <a:solidFill>
                  <a:srgbClr val="101418"/>
                </a:solidFill>
              </a:rPr>
              <a:t>Define state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FD19D-16AC-4A54-AEA3-3E600E6B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67050"/>
            <a:ext cx="2286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9FB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418"/>
                </a:solidFill>
              </a:defRPr>
            </a:pPr>
            <a:r>
              <a:rPr sz="2025" b="1">
                <a:solidFill>
                  <a:srgbClr val="101418"/>
                </a:solidFill>
              </a:rPr>
              <a:t>2</a:t>
            </a:r>
          </a:p>
          <a:p xmlns:a="http://schemas.openxmlformats.org/drawingml/2006/main">
            <a:pPr algn="ctr">
              <a:defRPr sz="2025" b="1">
                <a:solidFill>
                  <a:srgbClr val="101418"/>
                </a:solidFill>
              </a:defRPr>
            </a:pPr>
            <a:r>
              <a:rPr sz="2025" b="1">
                <a:solidFill>
                  <a:srgbClr val="101418"/>
                </a:solidFill>
              </a:rPr>
              <a:t>Create adapter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6BFF4-ED6A-49BA-85C2-99E79951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67050"/>
            <a:ext cx="2286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418"/>
                </a:solidFill>
              </a:defRPr>
            </a:pPr>
            <a:r>
              <a:rPr sz="2025" b="1">
                <a:solidFill>
                  <a:srgbClr val="101418"/>
                </a:solidFill>
              </a:rPr>
              <a:t>3</a:t>
            </a:r>
          </a:p>
          <a:p xmlns:a="http://schemas.openxmlformats.org/drawingml/2006/main">
            <a:pPr algn="ctr">
              <a:defRPr sz="2025" b="1">
                <a:solidFill>
                  <a:srgbClr val="101418"/>
                </a:solidFill>
              </a:defRPr>
            </a:pPr>
            <a:r>
              <a:rPr sz="2025" b="1">
                <a:solidFill>
                  <a:srgbClr val="101418"/>
                </a:solidFill>
              </a:rPr>
              <a:t>Refresh on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FAA3D-BB51-4A7D-AD3D-5BE935EA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EAFB"/>
                </a:solidFill>
              </a:defRPr>
            </a:pPr>
            <a:r>
              <a:rPr sz="2400" b="1">
                <a:solidFill>
                  <a:srgbClr val="D9EAFB"/>
                </a:solidFill>
              </a:rPr>
              <a:t>Deliverable: reusable C2000 LCD UI module for energy meter status and measurement display.</a:t>
            </a:r>
          </a:p>
        </p:txBody>
      </p:sp>
    </p:spTree>
    <p:extLst>
      <p:ext uri="{BB962C8B-B14F-4D97-AF65-F5344CB8AC3E}">
        <p14:creationId xmlns:p14="http://schemas.microsoft.com/office/powerpoint/2010/main" val="2056276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2026-08-05T13:15:57.7450000Z</dcterms:created>
  <dcterms:modified xsi:type="dcterms:W3CDTF">2026-08-05T13:15:57.7450000Z</dcterms:modified>
</coreProperties>
</file>