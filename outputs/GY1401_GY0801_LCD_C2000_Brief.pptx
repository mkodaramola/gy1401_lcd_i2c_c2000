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094bb65aff4db9" /><Relationship Type="http://schemas.openxmlformats.org/officeDocument/2006/relationships/extended-properties" Target="/docProps/app.xml" Id="R87b15de7813d40ef" /><Relationship Type="http://schemas.openxmlformats.org/officeDocument/2006/relationships/officeDocument" Target="/ppt/presentation.xml" Id="R4b6b4e23c88a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aa266c55243b4"/>
  </p:sldMasterIdLst>
  <p:notesMasterIdLst>
    <p:notesMasterId xmlns:r="http://schemas.openxmlformats.org/officeDocument/2006/relationships" r:id="R03cd4ffcb6b9485c"/>
  </p:notesMasterIdLst>
  <p:sldIdLst>
    <p:sldId xmlns:r="http://schemas.openxmlformats.org/officeDocument/2006/relationships" id="256" r:id="R360d9839f647453e"/>
    <p:sldId xmlns:r="http://schemas.openxmlformats.org/officeDocument/2006/relationships" id="257" r:id="Ree77ea52cdf74bb4"/>
    <p:sldId xmlns:r="http://schemas.openxmlformats.org/officeDocument/2006/relationships" id="258" r:id="R6ec00d57b8294abc"/>
    <p:sldId xmlns:r="http://schemas.openxmlformats.org/officeDocument/2006/relationships" id="259" r:id="R1130231fef31485f"/>
    <p:sldId xmlns:r="http://schemas.openxmlformats.org/officeDocument/2006/relationships" id="260" r:id="R91e473a9fe1943f2"/>
    <p:sldId xmlns:r="http://schemas.openxmlformats.org/officeDocument/2006/relationships" id="261" r:id="Rc2e33f6be8a84d4c"/>
    <p:sldId xmlns:r="http://schemas.openxmlformats.org/officeDocument/2006/relationships" id="262" r:id="R8bb5cf997519461a"/>
    <p:sldId xmlns:r="http://schemas.openxmlformats.org/officeDocument/2006/relationships" id="263" r:id="Rc1b892f8972b42d6"/>
    <p:sldId xmlns:r="http://schemas.openxmlformats.org/officeDocument/2006/relationships" id="264" r:id="R130b42dcc2cf40f6"/>
    <p:sldId xmlns:r="http://schemas.openxmlformats.org/officeDocument/2006/relationships" id="265" r:id="R4f4d25b35a72441f"/>
    <p:sldId xmlns:r="http://schemas.openxmlformats.org/officeDocument/2006/relationships" id="266" r:id="Rfdb2406bc16446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05d18a532474a" /><Relationship Type="http://schemas.openxmlformats.org/officeDocument/2006/relationships/slideMaster" Target="/ppt/slideMasters/slideMaster1.xml" Id="R4d4aa266c55243b4" /><Relationship Type="http://schemas.openxmlformats.org/officeDocument/2006/relationships/notesMaster" Target="/ppt/notesMasters/notesMaster1.xml" Id="R03cd4ffcb6b9485c" /><Relationship Type="http://schemas.openxmlformats.org/officeDocument/2006/relationships/presProps" Target="/ppt/presProps.xml" Id="Rb7f01a49bff74203" /><Relationship Type="http://schemas.openxmlformats.org/officeDocument/2006/relationships/tableStyles" Target="/ppt/tableStyles.xml" Id="Rae71874d41244e37" /><Relationship Type="http://schemas.openxmlformats.org/officeDocument/2006/relationships/slide" Target="/ppt/slides/slide1.xml" Id="R360d9839f647453e" /><Relationship Type="http://schemas.openxmlformats.org/officeDocument/2006/relationships/slide" Target="/ppt/slides/slide2.xml" Id="Ree77ea52cdf74bb4" /><Relationship Type="http://schemas.openxmlformats.org/officeDocument/2006/relationships/slide" Target="/ppt/slides/slide3.xml" Id="R6ec00d57b8294abc" /><Relationship Type="http://schemas.openxmlformats.org/officeDocument/2006/relationships/slide" Target="/ppt/slides/slide4.xml" Id="R1130231fef31485f" /><Relationship Type="http://schemas.openxmlformats.org/officeDocument/2006/relationships/slide" Target="/ppt/slides/slide5.xml" Id="R91e473a9fe1943f2" /><Relationship Type="http://schemas.openxmlformats.org/officeDocument/2006/relationships/slide" Target="/ppt/slides/slide6.xml" Id="Rc2e33f6be8a84d4c" /><Relationship Type="http://schemas.openxmlformats.org/officeDocument/2006/relationships/slide" Target="/ppt/slides/slide7.xml" Id="R8bb5cf997519461a" /><Relationship Type="http://schemas.openxmlformats.org/officeDocument/2006/relationships/slide" Target="/ppt/slides/slide8.xml" Id="Rc1b892f8972b42d6" /><Relationship Type="http://schemas.openxmlformats.org/officeDocument/2006/relationships/slide" Target="/ppt/slides/slide9.xml" Id="R130b42dcc2cf40f6" /><Relationship Type="http://schemas.openxmlformats.org/officeDocument/2006/relationships/slide" Target="/ppt/slides/slide10.xml" Id="R4f4d25b35a72441f" /><Relationship Type="http://schemas.openxmlformats.org/officeDocument/2006/relationships/slide" Target="/ppt/slides/slide11.xml" Id="Rfdb2406bc164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d56a821a24e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32cff6b12a46ce" /><Relationship Type="http://schemas.openxmlformats.org/officeDocument/2006/relationships/notesMaster" Target="/ppt/notesMasters/notesMaster1.xml" Id="R8b06a9b9111041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cab32da784239" /><Relationship Type="http://schemas.openxmlformats.org/officeDocument/2006/relationships/notesMaster" Target="/ppt/notesMasters/notesMaster1.xml" Id="R7c7f57f26da2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d40e8031c4d07" /><Relationship Type="http://schemas.openxmlformats.org/officeDocument/2006/relationships/notesMaster" Target="/ppt/notesMasters/notesMaster1.xml" Id="R2e594b879027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4209b48f8a4061" /><Relationship Type="http://schemas.openxmlformats.org/officeDocument/2006/relationships/notesMaster" Target="/ppt/notesMasters/notesMaster1.xml" Id="R93cc692c533641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3dce711e34597" /><Relationship Type="http://schemas.openxmlformats.org/officeDocument/2006/relationships/notesMaster" Target="/ppt/notesMasters/notesMaster1.xml" Id="R0f4f971023de43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6b1fe51fd422c" /><Relationship Type="http://schemas.openxmlformats.org/officeDocument/2006/relationships/notesMaster" Target="/ppt/notesMasters/notesMaster1.xml" Id="R27494af72bc64d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ce367a17054a8e" /><Relationship Type="http://schemas.openxmlformats.org/officeDocument/2006/relationships/notesMaster" Target="/ppt/notesMasters/notesMaster1.xml" Id="Rab71f6b8c5314d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e4c04631341d4" /><Relationship Type="http://schemas.openxmlformats.org/officeDocument/2006/relationships/notesMaster" Target="/ppt/notesMasters/notesMaster1.xml" Id="Rba1fae9bc51a47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8916039c24bfa" /><Relationship Type="http://schemas.openxmlformats.org/officeDocument/2006/relationships/notesMaster" Target="/ppt/notesMasters/notesMaster1.xml" Id="Rccdf82f512434b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e13b3da6104803" /><Relationship Type="http://schemas.openxmlformats.org/officeDocument/2006/relationships/notesMaster" Target="/ppt/notesMasters/notesMaster1.xml" Id="R156c4ddcdfbc41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1050129fd44c2c" /><Relationship Type="http://schemas.openxmlformats.org/officeDocument/2006/relationships/notesMaster" Target="/ppt/notesMasters/notesMaster1.xml" Id="Rc3c497d51b3443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</a:t>
            </a:r>
          </a:p>
          <a:p xmlns:a="http://schemas.openxmlformats.org/drawingml/2006/main">
            <a:r>
              <a:t>C:/Users/mkoda/workspace_ccstheia/GY0801_LCD</a:t>
            </a:r>
          </a:p>
          <a:p xmlns:a="http://schemas.openxmlformats.org/drawingml/2006/main">
            <a:r>
              <a:t>C:/Users/mkoda/Documents/lcd materials</a:t>
            </a:r>
          </a:p>
          <a:p xmlns:a="http://schemas.openxmlformats.org/drawingml/2006/main">
            <a:r>
              <a:t>C:/Users/mkoda/Documents/Premauda/GY0801 LCD Materials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C:/Users/mkoda/workspace_ccstheia/LCD_I2C/hw/hw_i2c.cpp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materials/CN91C4S48_i2c.pdf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C:/Users/mkoda/workspace_ccstheia/LCD_I2C/hw/includes/meter_lcd.h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materials/COM_SEG Mapping Table.PNG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materials/lcd mspm0  code/util_ui_lcd_lu.h</a:t>
            </a:r>
          </a:p>
          <a:p xmlns:a="http://schemas.openxmlformats.org/drawingml/2006/main">
            <a:r>
              <a:t>C:/Users/mkoda/Documents/lcd materials/lcd mspm0  code/util_i2c.h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C:/Users/mkoda/Documents/lcd materials/Displayable Characters.txt</a:t>
            </a:r>
          </a:p>
          <a:p xmlns:a="http://schemas.openxmlformats.org/drawingml/2006/main">
            <a:r>
              <a:t>C:/Users/mkoda/Documents/lcd materials/COM_SEG Mapping Table.PNG</a:t>
            </a:r>
          </a:p>
          <a:p xmlns:a="http://schemas.openxmlformats.org/drawingml/2006/main">
            <a:r>
              <a:t>C:/Users/mkoda/workspace_ccstheia/LCD_I2C/hw/includes/meter_lcd.h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C:/Users/mkoda/workspace_ccstheia/LCD_I2C/app/main.cpp</a:t>
            </a:r>
          </a:p>
          <a:p xmlns:a="http://schemas.openxmlformats.org/drawingml/2006/main">
            <a:r>
              <a:t>C:/Users/mkoda/workspace_ccstheia/LCD_I2C/hw/meter_lcd.cpp</a:t>
            </a:r>
          </a:p>
          <a:p xmlns:a="http://schemas.openxmlformats.org/drawingml/2006/main">
            <a:r>
              <a:t>C:/Users/mkoda/Documents/lcd materials/Displayable Characters.txt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C:/Users/mkoda/workspace_ccstheia/GY0801_LCD/hw/includes/gy0801_lcd.h</a:t>
            </a:r>
          </a:p>
          <a:p xmlns:a="http://schemas.openxmlformats.org/drawingml/2006/main">
            <a:r>
              <a:t>C:/Users/mkoda/Documents/Premauda/GY0801 LCD Materials/gy-modified.PNG</a:t>
            </a:r>
          </a:p>
          <a:p xmlns:a="http://schemas.openxmlformats.org/drawingml/2006/main">
            <a:r>
              <a:t>C:/Users/mkoda/Documents/Premauda/GY0801 LCD Materials/ht1621b.PDF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C:/Users/mkoda/workspace_ccstheia/GY0801_LCD/app/main.cpp</a:t>
            </a:r>
          </a:p>
          <a:p xmlns:a="http://schemas.openxmlformats.org/drawingml/2006/main">
            <a:r>
              <a:t>C:/Users/mkoda/workspace_ccstheia/GY0801_LCD/hw/gy0801_lcd.cpp</a:t>
            </a:r>
          </a:p>
          <a:p xmlns:a="http://schemas.openxmlformats.org/drawingml/2006/main">
            <a:r>
              <a:t>C:/Users/mkoda/Documents/Premauda/GY0801 LCD Materials/AN0468e HT162x Application Guidelines -HOLTEK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C:/Users/mkoda/workspace_ccstheia/GY0801_LCD/hw/gy0801_lcd.cpp</a:t>
            </a:r>
          </a:p>
          <a:p xmlns:a="http://schemas.openxmlformats.org/drawingml/2006/main">
            <a:r>
              <a:t>C:/Users/mkoda/workspace_ccstheia/GY0801_LCD/hw/includes/gy0801_lcd.h</a:t>
            </a:r>
          </a:p>
          <a:p xmlns:a="http://schemas.openxmlformats.org/drawingml/2006/main">
            <a:r>
              <a:t>C:/Users/mkoda/workspace_ccstheia/GY0801_LCD/tmp/pdf_pages/gy0801_truth_table_current.png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C:/Users/mkoda/workspace_ccstheia/GY0801_LCD/app/main.cpp</a:t>
            </a:r>
          </a:p>
          <a:p xmlns:a="http://schemas.openxmlformats.org/drawingml/2006/main">
            <a:r>
              <a:t>C:/Users/mkoda/workspace_ccstheia/GY0801_LCD/hw/includes/gy0801_lcd.h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C:/Users/mkoda/workspace_ccstheia/GY0801_LCD</a:t>
            </a:r>
          </a:p>
          <a:p xmlns:a="http://schemas.openxmlformats.org/drawingml/2006/main">
            <a:r>
              <a:t>User-provided future plan: integrate GY0801 in pro_ci to display different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5ef0b4ada48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9981d72b314b36" /><Relationship Type="http://schemas.openxmlformats.org/officeDocument/2006/relationships/slideLayout" Target="/ppt/slideLayouts/slideLayout1.xml" Id="R97718fc10ef9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18fc10ef9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9857fde104211" /><Relationship Type="http://schemas.openxmlformats.org/officeDocument/2006/relationships/image" Target="/ppt/media/image.png" Id="R16756210338e4ab8" /><Relationship Type="http://schemas.openxmlformats.org/officeDocument/2006/relationships/image" Target="/ppt/media/image2.png" Id="R1a359b52340e4d59" /><Relationship Type="http://schemas.openxmlformats.org/officeDocument/2006/relationships/notesSlide" Target="/ppt/notesSlides/notesSlide1.xml" Id="Rdfabfabe8ce9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28e3bb3f54e2c" /><Relationship Type="http://schemas.openxmlformats.org/officeDocument/2006/relationships/notesSlide" Target="/ppt/notesSlides/notesSlide2.xml" Id="Re77b1fe871b346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aadd5eff34195" /><Relationship Type="http://schemas.openxmlformats.org/officeDocument/2006/relationships/image" Target="/ppt/media/image3.png" Id="Ra6ed019bede84df2" /><Relationship Type="http://schemas.openxmlformats.org/officeDocument/2006/relationships/notesSlide" Target="/ppt/notesSlides/notesSlide3.xml" Id="Rd1ad6235ca364b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e62e0acef4dc2" /><Relationship Type="http://schemas.openxmlformats.org/officeDocument/2006/relationships/notesSlide" Target="/ppt/notesSlides/notesSlide4.xml" Id="Rae91a9cbe55e42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2ffac1ef545eb" /><Relationship Type="http://schemas.openxmlformats.org/officeDocument/2006/relationships/image" Target="/ppt/media/image4.png" Id="R6b3edddfd7e444f7" /><Relationship Type="http://schemas.openxmlformats.org/officeDocument/2006/relationships/notesSlide" Target="/ppt/notesSlides/notesSlide5.xml" Id="R9b5fe256400141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8f2e0c6d44c3a" /><Relationship Type="http://schemas.openxmlformats.org/officeDocument/2006/relationships/notesSlide" Target="/ppt/notesSlides/notesSlide6.xml" Id="Rf97cdb71c180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2ed670d0547e4" /><Relationship Type="http://schemas.openxmlformats.org/officeDocument/2006/relationships/image" Target="/ppt/media/image5.png" Id="R4badf31952bc4705" /><Relationship Type="http://schemas.openxmlformats.org/officeDocument/2006/relationships/notesSlide" Target="/ppt/notesSlides/notesSlide7.xml" Id="R8cc44e5481c948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e9d1dffdb4266" /><Relationship Type="http://schemas.openxmlformats.org/officeDocument/2006/relationships/notesSlide" Target="/ppt/notesSlides/notesSlide8.xml" Id="R8c8cdbb6b47942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959b28a764e61" /><Relationship Type="http://schemas.openxmlformats.org/officeDocument/2006/relationships/image" Target="/ppt/media/image6.png" Id="R5a51396bd3144ee7" /><Relationship Type="http://schemas.openxmlformats.org/officeDocument/2006/relationships/notesSlide" Target="/ppt/notesSlides/notesSlide9.xml" Id="Rdbc1add2f5284d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88a8f194427a" /><Relationship Type="http://schemas.openxmlformats.org/officeDocument/2006/relationships/notesSlide" Target="/ppt/notesSlides/notesSlide10.xml" Id="R32386fcffd7c4a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bedf45ca245d4" /><Relationship Type="http://schemas.openxmlformats.org/officeDocument/2006/relationships/notesSlide" Target="/ppt/notesSlides/notesSlide11.xml" Id="Rcaab3a0f5c5f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67051-1B7D-46EF-A4E5-69F9CEC3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418"/>
                </a:solidFill>
              </a:defRPr>
            </a:pPr>
            <a:r>
              <a:rPr sz="3750" b="1">
                <a:solidFill>
                  <a:srgbClr val="101418"/>
                </a:solidFill>
              </a:rPr>
              <a:t>Segmented LCD configuration</a:t>
            </a:r>
          </a:p>
          <a:p xmlns:a="http://schemas.openxmlformats.org/drawingml/2006/main">
            <a:pPr algn="l">
              <a:defRPr sz="3750" b="1">
                <a:solidFill>
                  <a:srgbClr val="101418"/>
                </a:solidFill>
              </a:defRPr>
            </a:pPr>
            <a:r>
              <a:rPr sz="3750" b="1">
                <a:solidFill>
                  <a:srgbClr val="101418"/>
                </a:solidFill>
              </a:rPr>
              <a:t>for C2000 energy 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86AAD-ED51-4FFE-8BF1-246CEDD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2"/>
                </a:solidFill>
              </a:defRPr>
            </a:pPr>
            <a:r>
              <a:rPr sz="1875" b="0">
                <a:solidFill>
                  <a:srgbClr val="5F6872"/>
                </a:solidFill>
              </a:rPr>
              <a:t>GY1401 and GY0801 implementation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4503B-9C9F-41E0-9DFF-4053E6D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4000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6210338e4ab8"/>
          <a:stretch xmlns:a="http://schemas.openxmlformats.org/drawingml/2006/main"/>
        </p:blipFill>
        <p:spPr>
          <a:xfrm xmlns:a="http://schemas.openxmlformats.org/drawingml/2006/main">
            <a:off x="7601142" y="1047750"/>
            <a:ext cx="3276216" cy="2381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59b52340e4d59"/>
          <a:srcRect xmlns:a="http://schemas.openxmlformats.org/drawingml/2006/main" l="0" t="24315" r="0" b="24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619500"/>
            <a:ext cx="3429000" cy="1104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E0E6C-20BF-4B21-BD79-DF0DF2E9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</a:defRPr>
            </a:pPr>
            <a:r>
              <a:rPr sz="1500" b="0">
                <a:solidFill>
                  <a:srgbClr val="5F6872"/>
                </a:solidFill>
              </a:rPr>
              <a:t>Prepared for future C2000-based energy meter UI integration</a:t>
            </a:r>
          </a:p>
        </p:txBody>
      </p:sp>
    </p:spTree>
    <p:extLst>
      <p:ext uri="{BB962C8B-B14F-4D97-AF65-F5344CB8AC3E}">
        <p14:creationId xmlns:p14="http://schemas.microsoft.com/office/powerpoint/2010/main" val="1694519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DBF99-D351-40FD-92E8-560220A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GY1401 / C2000 ENERGY METER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A0BF2-2EE2-48B1-BBA4-24767B8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GY1401 work established the C2000 LCD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99E72-D090-4427-A895-B8EFF47C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3ED2A-FFAB-4954-9179-A0B639E5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implementation proves the CN91C4S48-based GY1401 can be configured and updated from the C2000 firmware using a small reusable LCD abstraction.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D5EA-4681-4468-A194-96EE570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FFC3C-BD2F-41A0-9ADF-151BDAD3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I2C controller path initialized on C2000Ware driverlib.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F1454-9AA0-43E3-A5AF-053876E7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3F8B7-EDE8-431E-B75D-3E11E568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CN91C4S48 command sequence sets display timing, contrast, blink and enable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BD67A-1E22-45B6-A649-E0F6A73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30406-7F95-4A70-AA95-9E9BBF94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A display RAM shadow lets numeric and fixed-symbol writes stay isolated.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29166-3965-4049-AC9D-BE8CF60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F3E00-1B6B-4B99-85B9-E4BD782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Core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B232E-F810-49E1-839E-6A908813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872"/>
                </a:solidFill>
              </a:defRPr>
            </a:pPr>
            <a:r>
              <a:rPr sz="1650" b="0">
                <a:solidFill>
                  <a:srgbClr val="5F6872"/>
                </a:solidFill>
              </a:rPr>
              <a:t>Numbers display correctly through MeterLcd::Print(), which writes packed byte patterns into the LCD main message window.</a:t>
            </a:r>
          </a:p>
        </p:txBody>
      </p:sp>
    </p:spTree>
    <p:extLst>
      <p:ext uri="{BB962C8B-B14F-4D97-AF65-F5344CB8AC3E}">
        <p14:creationId xmlns:p14="http://schemas.microsoft.com/office/powerpoint/2010/main" val="1682044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23FB9-E634-4B1A-90DF-FCDBF218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GY1401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3BC1B-F6C2-4B8B-8268-89D32AC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Configure GY1401 before segment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1B13C-D493-4B31-A009-654FA809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D86E9-E444-4334-8129-FECA8A3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C58D0-66C0-43BE-972A-F576C0FA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185CB-61B4-48A8-A59F-834B28D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Target address: 0x3E on the I2C bus.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1B19D-C1BC-4FE7-A95F-80654B2B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F0997-E3C5-4D99-8234-C8BD8E65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Startup sends ICSET, DISCTL, EVRSET, BLKCTL, APCTL and MODSET.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E8780-73FD-451D-BBE4-4A8AB820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D2600-0702-4474-B661-786C330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After enable, DDRAM is cleared so every later update starts from known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AC8A1-3303-4A09-BC1C-DC1745BE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34D8A-A3FC-493C-9378-1DFFD9BB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C2000 I2C transport chunks longer RAM writes and waits for FIFO/STOP completion.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d019bede84df2"/>
          <a:stretch xmlns:a="http://schemas.openxmlformats.org/drawingml/2006/main"/>
        </p:blipFill>
        <p:spPr>
          <a:xfrm xmlns:a="http://schemas.openxmlformats.org/drawingml/2006/main">
            <a:off x="7143750" y="2412459"/>
            <a:ext cx="4000500" cy="2509332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F79E8-B8C9-4352-82E6-8CE11115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</a:defRPr>
            </a:pPr>
            <a:r>
              <a:rPr sz="1500" b="0">
                <a:solidFill>
                  <a:srgbClr val="5F6872"/>
                </a:solidFill>
              </a:rPr>
              <a:t>Configuration separates controller bring-up from UI content.</a:t>
            </a:r>
          </a:p>
        </p:txBody>
      </p:sp>
    </p:spTree>
    <p:extLst>
      <p:ext uri="{BB962C8B-B14F-4D97-AF65-F5344CB8AC3E}">
        <p14:creationId xmlns:p14="http://schemas.microsoft.com/office/powerpoint/2010/main" val="273674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B7C36-99BE-4927-B6A1-4E9A1EF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GY1401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BF4B5-D366-49C8-B706-F813619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Numeric display depends on packed LCD byte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94AE-DBB6-40C0-95D4-6772201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08E85-5D20-412C-A01E-B637125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display is not an ASCII LCD. Digits are converted to controller-specific segment bytes, then written at the main message DDRAM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7D4CD-EDFE-41DE-8681-7F7CB5B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762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5ED6-E453-4579-88C6-932B944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Example digit LUT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7FD0C-615D-42B3-91AB-7250781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0 -&gt; 0xFA</a:t>
            </a:r>
          </a:p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1 -&gt; 0x0A</a:t>
            </a:r>
          </a:p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8 -&gt; 0xFE</a:t>
            </a:r>
          </a:p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9 -&gt; 0xCE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159ED-407B-4762-B509-84E7627A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4762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69132-DC11-4D82-8E56-2AE3E64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Write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D8C82-3092-47AF-A696-532EB61F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DDRAM 0x18</a:t>
            </a:r>
          </a:p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11 bytes</a:t>
            </a:r>
          </a:p>
          <a:p xmlns:a="http://schemas.openxmlformats.org/drawingml/2006/main">
            <a:pPr algn="l">
              <a:defRPr sz="1875" b="0">
                <a:solidFill>
                  <a:srgbClr val="101418"/>
                </a:solidFill>
              </a:defRPr>
            </a:pPr>
            <a:r>
              <a:rPr sz="1875" b="0">
                <a:solidFill>
                  <a:srgbClr val="101418"/>
                </a:solidFill>
              </a:rPr>
              <a:t>right-aligned digit packing</a:t>
            </a:r>
          </a:p>
        </p:txBody>
      </p:sp>
    </p:spTree>
    <p:extLst>
      <p:ext uri="{BB962C8B-B14F-4D97-AF65-F5344CB8AC3E}">
        <p14:creationId xmlns:p14="http://schemas.microsoft.com/office/powerpoint/2010/main" val="1805903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D2E3B-7896-42E3-94EE-5031BD9B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GY1401 SYMBOLS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02E16-DAF2-440B-BC0B-D3F9E42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Fixed glass symbols are controlled as named segments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7E6C3-3CBE-4A92-9C40-D346A17A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AEF69-AB3F-4A8F-A7D8-386E701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Units and status marks such as kW, kWh, Ah, arrows, warning, signal bars and battery segments are physical glass symbols, not arbitrary 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50D6D-4385-4D6E-8DDA-C0EF863E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75C10-613D-436F-8179-E2A0AF68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The COM/SEG table maps each etched symbol to a controller RAM 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4398D-EE58-49C0-AE3D-1996F64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5D88D-37DC-4E53-86C1-576F20BF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Raw testing uses SetGlassSegment(Kxx, ON/OFF).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370B9-E0E7-4D56-A426-6BBB192B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E5769-D9BE-4225-9049-FC0A7588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Future helpers can group symbols into ShowUnitKWh(), ShowWarning(), and SetBatteryLevel().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edddfd7e444f7"/>
          <a:srcRect xmlns:a="http://schemas.openxmlformats.org/drawingml/2006/main" l="16148" t="0" r="16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095500"/>
            <a:ext cx="323850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69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C9260-64D0-4B0B-8B39-506DDEE5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GY1401 APPLICATION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EA838-13ED-40BF-AE78-C4BAD7B3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GY1401 is ready to become an energy-meter display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951F-3935-4BB3-BA57-3E6CFEC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6BBB-A0D6-4EAF-BCCF-C478B55F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next firmware step is to stop driving demo values directly and bind display content to measured meter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10BBD-0EF5-4C51-B0CB-D0430EEF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9C834-1C1F-4BDB-847D-02B3A05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</a:defRPr>
            </a:pPr>
            <a:r>
              <a:rPr sz="1800" b="0">
                <a:solidFill>
                  <a:srgbClr val="101418"/>
                </a:solidFill>
              </a:rPr>
              <a:t>Voltage, current, power, energy and credit values feed numeric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738C9-1878-4953-A7D5-DB70D4A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0D491-C4DA-4E1A-AB6C-8DBB75CD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</a:defRPr>
            </a:pPr>
            <a:r>
              <a:rPr sz="1800" b="0">
                <a:solidFill>
                  <a:srgbClr val="101418"/>
                </a:solidFill>
              </a:rPr>
              <a:t>Relay, tariff, warning and communication states feed fixed icons.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DB1C1-B61F-445B-9220-DDC617DB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99DF6-0721-458F-B452-08E82FD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</a:defRPr>
            </a:pPr>
            <a:r>
              <a:rPr sz="1800" b="0">
                <a:solidFill>
                  <a:srgbClr val="101418"/>
                </a:solidFill>
              </a:rPr>
              <a:t>The LCD layer remains hardware-specific; the meter UI layer chooses what to show.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5B74C-DDB2-46A3-BD83-F50525AF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E88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88E5"/>
                </a:solidFill>
              </a:defRPr>
            </a:pPr>
            <a:r>
              <a:rPr sz="1125" b="1">
                <a:solidFill>
                  <a:srgbClr val="1E88E5"/>
                </a:solidFill>
              </a:rPr>
              <a:t>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EF7AE-DD7E-43E8-80AE-392FE19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A5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A594"/>
                </a:solidFill>
              </a:defRPr>
            </a:pPr>
            <a:r>
              <a:rPr sz="1125" b="1">
                <a:solidFill>
                  <a:srgbClr val="12A594"/>
                </a:solidFill>
              </a:rPr>
              <a:t>encoding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9C377-043C-40CB-8BEE-B6B88C3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E44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E44AD"/>
                </a:solidFill>
              </a:defRPr>
            </a:pPr>
            <a:r>
              <a:rPr sz="1125" b="1">
                <a:solidFill>
                  <a:srgbClr val="8E44AD"/>
                </a:solidFill>
              </a:rPr>
              <a:t>state UI</a:t>
            </a:r>
          </a:p>
        </p:txBody>
      </p:sp>
    </p:spTree>
    <p:extLst>
      <p:ext uri="{BB962C8B-B14F-4D97-AF65-F5344CB8AC3E}">
        <p14:creationId xmlns:p14="http://schemas.microsoft.com/office/powerpoint/2010/main" val="1141494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F8B85-6476-4E14-BA81-E85CB9C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GY0801 / PRO CI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0DC57-F11D-4936-9844-399BFE9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GY0801 targets a richer status display for PRO 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3F2F2-BA13-4704-A8D3-DAD44B71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29230-E861-4499-94CE-BEE336E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GY0801 uses an HT1621-compatible controller and exposes multiple labeled numeric regions plus application icons for inverter, battery and load states.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f31952bc4705"/>
          <a:stretch xmlns:a="http://schemas.openxmlformats.org/drawingml/2006/main"/>
        </p:blipFill>
        <p:spPr>
          <a:xfrm xmlns:a="http://schemas.openxmlformats.org/drawingml/2006/main">
            <a:off x="7524750" y="2079005"/>
            <a:ext cx="3714750" cy="269998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AEE2E-7900-4629-996C-82CFBCD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DEC04-E6C2-4744-B90B-D4AD3BB3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Input, battery and output/load values have separate digit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61A3-5E74-481D-B409-7571207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48D0F-A817-4EF3-8942-3CD16986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Icons cover AC, PV, battery, output, load, error, overload and flow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6987-AB61-447A-85DD-E5DA397C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262F8-C571-4FEF-B707-1D9023C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This makes it a better match for PRO CI operational status screens.</a:t>
            </a:r>
          </a:p>
        </p:txBody>
      </p:sp>
    </p:spTree>
    <p:extLst>
      <p:ext uri="{BB962C8B-B14F-4D97-AF65-F5344CB8AC3E}">
        <p14:creationId xmlns:p14="http://schemas.microsoft.com/office/powerpoint/2010/main" val="1309368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F1B2E-2C34-46AB-B2DF-FC9D8D8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GY0801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5849C-D7F2-422A-A8C2-2B68BE41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GY0801 communication is GPIO-driven, not I2C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D55E4-B922-4620-8BEB-51BE15E3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43B9D-E482-42B5-865E-51030F7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56748-A788-4BF6-B3D8-68EF588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424C4-6BE9-41D1-8934-F8733801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897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C2000 GPIOs: CS=5, WR=4, DATA=9, backlight=8; RD is unused.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9760-C2E0-4F95-8475-C328A5F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0F695-1D88-44C6-833D-3A3C050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97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The driver sends HT1621-style command, write and read mode frames.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DD200-7D35-46DE-9089-79752B6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EF8E8-25AE-4633-9666-0B710F13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897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Startup enables system clock, RC oscillator, 1/3 bias 4-COM mode and LCD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8027A-1AA3-4BAD-884C-EF74DBD4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4E0F1-CA8E-443E-9F83-7C32B9D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897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A configurable pulse delay keeps timing portable across C2000 clock settings.</a:t>
            </a:r>
          </a:p>
        </p:txBody>
      </p:sp>
    </p:spTree>
    <p:extLst>
      <p:ext uri="{BB962C8B-B14F-4D97-AF65-F5344CB8AC3E}">
        <p14:creationId xmlns:p14="http://schemas.microsoft.com/office/powerpoint/2010/main" val="2056035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38FBB-B7AD-4241-8053-07CBB13E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GY0801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64BC9-E08C-4A29-A99C-330501B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GY0801 uses shadow RAM and typed symbols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B88C7-380D-418A-A202-90CFB654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506F-8597-44AC-94BC-191C467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driver stores a 32-address shadow RAM, updates bits locally, and flushes nibbles to the controller in burst writes.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1396bd3144ee7"/>
          <a:stretch xmlns:a="http://schemas.openxmlformats.org/drawingml/2006/main"/>
        </p:blipFill>
        <p:spPr>
          <a:xfrm xmlns:a="http://schemas.openxmlformats.org/drawingml/2006/main">
            <a:off x="8011990" y="1981200"/>
            <a:ext cx="2549769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69941-58CC-48BB-AC60-1B9B0B1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3BEC3-DE52-41F0-91B7-3422E566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writeText() and writeNumber() handle digit rendering.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9EACF-EE7B-47C0-9846-C6CF5DB8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55667-E462-4520-B6F8-4E5FF6D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setIcon() groups several low-level symbols into one display intent.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F80A5-557E-4EFF-8725-E90BBCF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328BD-A05F-4A40-855C-296958F9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setSymbol() and setRawSegment() support bring-up and mapping tests.</a:t>
            </a:r>
          </a:p>
        </p:txBody>
      </p:sp>
    </p:spTree>
    <p:extLst>
      <p:ext uri="{BB962C8B-B14F-4D97-AF65-F5344CB8AC3E}">
        <p14:creationId xmlns:p14="http://schemas.microsoft.com/office/powerpoint/2010/main" val="1560198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0907B-F559-4D1D-93DE-7D1629B7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GY0801 APPLICATION HELPERS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021B1-7D2E-4F67-BD3E-619DEFE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Application helpers already mirror the glass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4F5A7-2952-4DAD-921F-612602D0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854FF-7677-4ACB-8A47-09BB7A1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application layer splits visible values into the same regions printed on the glass: INPUT, BATT, OUTPUT and 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9BA0E-96C8-45B1-8934-284FC98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07DD6-A105-4454-AE04-97495E1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04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6F9A9-2983-4F86-9407-52698E4B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12109-4AF6-4871-B8D1-F841F679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writeInput()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F9274-A40F-4B79-B93D-F62501A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</a:defRPr>
            </a:pPr>
            <a:r>
              <a:rPr sz="1500" b="0">
                <a:solidFill>
                  <a:srgbClr val="5F6872"/>
                </a:solidFill>
              </a:rPr>
              <a:t>3 digits, DOT1/DOT2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17077-331A-4857-BCFA-4EC7D9A7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writeBattery()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A9097-BF64-4B92-8818-E3AB2EB3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</a:defRPr>
            </a:pPr>
            <a:r>
              <a:rPr sz="1500" b="0">
                <a:solidFill>
                  <a:srgbClr val="5F6872"/>
                </a:solidFill>
              </a:rPr>
              <a:t>2 middle digits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B94CD-722E-4845-8B42-1F21FB2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</a:defRPr>
            </a:pPr>
            <a:r>
              <a:rPr sz="1875" b="1">
                <a:solidFill>
                  <a:srgbClr val="101418"/>
                </a:solidFill>
              </a:rPr>
              <a:t>writeOutput()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D2DAF-BAC3-40F5-84E2-BCF02BB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</a:defRPr>
            </a:pPr>
            <a:r>
              <a:rPr sz="1500" b="0">
                <a:solidFill>
                  <a:srgbClr val="5F6872"/>
                </a:solidFill>
              </a:rPr>
              <a:t>3 digits, DOT4/DOT5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B91CA-5E47-438D-AD1B-CE8731F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</a:defRPr>
            </a:pPr>
            <a:r>
              <a:rPr sz="1650" b="0">
                <a:solidFill>
                  <a:srgbClr val="101418"/>
                </a:solidFill>
              </a:rPr>
              <a:t>These helpers are the natural integration point for PRO CI state formatting.</a:t>
            </a:r>
          </a:p>
        </p:txBody>
      </p:sp>
    </p:spTree>
    <p:extLst>
      <p:ext uri="{BB962C8B-B14F-4D97-AF65-F5344CB8AC3E}">
        <p14:creationId xmlns:p14="http://schemas.microsoft.com/office/powerpoint/2010/main" val="94442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91991-B109-4209-93F2-A8B0E57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872"/>
                </a:solidFill>
              </a:defRPr>
            </a:pPr>
            <a:r>
              <a:rPr sz="1125" b="1">
                <a:solidFill>
                  <a:srgbClr val="5F6872"/>
                </a:solidFill>
              </a:rPr>
              <a:t>FUTURE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50B1-1F6B-44BA-A7C4-D1953366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Next step: integrate GY0801 into PRO CI state display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22C1D-D12B-494F-94A1-986552BD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solidFill>
              <a:srgbClr val="C8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F1CA0-B10C-4EF4-AD17-D419624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</a:defRPr>
            </a:pPr>
            <a:r>
              <a:rPr sz="1800" b="0">
                <a:solidFill>
                  <a:srgbClr val="5F6872"/>
                </a:solidFill>
              </a:rPr>
              <a:t>The planned work is to replace the standalone demo loop with a PRO CI display adapter that renders system states consistently.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609F5-8B85-4A59-890A-AE7AC16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0695B-512A-4EEC-8D91-68581DA5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Define PRO CI display states: idle, charging, discharging, fault, overload, low battery and communication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FF517-8D39-483E-AECB-4B96BE4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9037C-3C89-4D1D-B2AF-5683C7DE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Map each state to digits, labels, flow arrows, battery gauge and warning icons.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67024-CEC9-428C-8FF7-D9DA0EC3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CF60F-1277-4D33-A75E-C01CE90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Add a periodic refresh task that updates the GY0801 shadow RAM only when state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C8D9-F8B5-450D-9238-C766279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88E5"/>
                </a:solidFill>
              </a:defRPr>
            </a:pPr>
            <a:r>
              <a:rPr sz="1200" b="1">
                <a:solidFill>
                  <a:srgbClr val="1E88E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CD2DF-2AC0-461E-8BC6-22DB99E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935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418"/>
                </a:solidFill>
              </a:defRPr>
            </a:pPr>
            <a:r>
              <a:rPr sz="1725" b="0">
                <a:solidFill>
                  <a:srgbClr val="101418"/>
                </a:solidFill>
              </a:rPr>
              <a:t>Keep hardware driver, display formatting and application state logic in separate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30F01-BC74-4495-BE58-227FBA6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Outcome: a reusable LCD UI layer that can move from bring-up code into production energy-meter firmware.</a:t>
            </a:r>
          </a:p>
        </p:txBody>
      </p:sp>
    </p:spTree>
    <p:extLst>
      <p:ext uri="{BB962C8B-B14F-4D97-AF65-F5344CB8AC3E}">
        <p14:creationId xmlns:p14="http://schemas.microsoft.com/office/powerpoint/2010/main" val="1177791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2026-08-05T12:44:36.6550000Z</dcterms:created>
  <dcterms:modified xsi:type="dcterms:W3CDTF">2026-08-05T12:44:36.6550000Z</dcterms:modified>
</coreProperties>
</file>